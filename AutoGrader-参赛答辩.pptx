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01168" cy="6858000"/>
          </a:xfrm>
          <a:prstGeom prst="roundRect">
            <a:avLst>
              <a:gd name="adj" fmla="val 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5200" b="1">
                <a:solidFill>
                  <a:srgbClr val="1F2937"/>
                </a:solidFill>
                <a:latin typeface="微软雅黑"/>
                <a:ea typeface="微软雅黑"/>
              </a:rPr>
              <a:t>AutoGrader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0F766E"/>
                </a:solidFill>
                <a:latin typeface="微软雅黑"/>
                <a:ea typeface="微软雅黑"/>
              </a:rPr>
              <a:t>实验报告智能评阅平台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不做「让 AI 打个分」，而做「把评分标准变成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微软雅黑"/>
                <a:ea typeface="微软雅黑"/>
              </a:rPr>
              <a:t>可核查、可溯源、可校准的判定流水线」。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2071116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207111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RAG-E 四阶判定链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0964" y="3794760"/>
            <a:ext cx="1618488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0964" y="3794760"/>
            <a:ext cx="16184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证据原文逐字校验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0620" y="3794760"/>
            <a:ext cx="1014984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0620" y="3794760"/>
            <a:ext cx="10149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人在回路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3794760"/>
            <a:ext cx="1467612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6772" y="3794760"/>
            <a:ext cx="14676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总分由代码加总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粤港澳大湾区 AI Coding 创新大赛 · 方向一：AI + 教学管理助手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团队成员：黄宇科、张镒川（深圳大学计算机与软件学院）　·　开源协议：MIT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01 · 赛题方向与痛点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为什么要做：批改的痛点是「不一致」，不只是「慢」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50292" cy="1828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6479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助教的时间被重复劳动吃掉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310896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</a:rPr>
              <a:t>一门课 60 人 × 每份 8~10 分钟 ≈ 10 小时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</a:rPr>
              <a:t>大量时间花在「找证据」而不是「判断」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50292" cy="1828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学生的反馈只有分数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93976"/>
            <a:ext cx="310896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</a:rPr>
              <a:t>只知道扣了多少，不知道扣在哪一句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</a:rPr>
              <a:t>改进建议往往是「分析不够深入」这类空话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1600200"/>
            <a:ext cx="50292" cy="1828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64792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直接让 AI 打总分不可接受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93976"/>
            <a:ext cx="310896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</a:rPr>
              <a:t>黑箱：说不出为什么给这个分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</a:rPr>
              <a:t>不可核查：引用可能根本不在原文里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0332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我们要的不是「更快的分数」，而是「每个分数都能被指认出依据」——证据在第几节、原文是哪一句、判定是谁做的。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4754880"/>
            <a:ext cx="50292" cy="12801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1947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我们自己实测到的「不一致」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48656"/>
            <a:ext cx="106070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同一份报告连跑 10 次，有 2 次判定在 hit / partial 之间漂移——这正是 G 一致性守卫存在的原因。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（数据来自仓库 stability_log.json，界面「批量测试 → 同一份重复评阅」可复现）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02 · 作品简介与方法论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RAG-E 四阶判定链：把评分拆成可核查的四步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0F766E"/>
                </a:solidFill>
                <a:latin typeface="微软雅黑"/>
                <a:ea typeface="微软雅黑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4708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评分点原子化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3172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把教师用自然语言写的评分标准，拆成 8~12 个彼此不重叠、可独立判定的原子评分点。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572768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373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0F766E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84708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证据锚定判定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33172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逐个评分点独立判定，必须回引报告原文；引用逐字匹配不上即作废重跑。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572768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373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0F766E"/>
                </a:solidFill>
                <a:latin typeface="微软雅黑"/>
                <a:ea typeface="微软雅黑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84708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一致性守卫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33172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低置信或两次判定不一致 → 显式标记「待人工复核」并置顶。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0848" y="1572768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7373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600" b="1">
                <a:solidFill>
                  <a:srgbClr val="0F766E"/>
                </a:solidFill>
                <a:latin typeface="微软雅黑"/>
                <a:ea typeface="微软雅黑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8" y="184708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反馈生成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331720"/>
            <a:ext cx="22128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基于已定稿的判定生成评语与可执行建议，不参与打分。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94760"/>
            <a:ext cx="11064240" cy="54864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77639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F2937"/>
                </a:solidFill>
                <a:latin typeface="微软雅黑"/>
                <a:ea typeface="微软雅黑"/>
              </a:rPr>
              <a:t>三条不可违背的工程铁律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407408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57200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分数由代码加总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956048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模型只输出单点判定 hit / partial / miss，模型输出里没有 total 字段。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407408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457200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无证据的判断不算数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4956048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每条引用必须能原文逐字匹配；失败即作废重跑，绝不放宽规则让数字变好看。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36992" y="4407408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57200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不确定就交给人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956048"/>
            <a:ext cx="312724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低置信或双跑不一致 → 标记待复核；教师可在界面直接改分并留痕。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14476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模型唯一被允许输出的，是「单个评分点 + 判定 + 理由 + 原文引用」——其余全由确定性代码决定。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03 · AI 能力边界（这是作品的核心）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AI 被允许做什么，不被允许做什么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5394960" cy="47548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394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✓ AI 被允许做的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572768"/>
            <a:ext cx="5394960" cy="475488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572768"/>
            <a:ext cx="5394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✗ AI 不被允许做的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把自然语言评分标准拆成原子评分点（R）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5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对单个评分点作出 hit / partial / miss 判定（A）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958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以「另一位助教」身份做一次独立复核（G）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8795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把已定稿的判定改写成学生读得懂的反馈（E）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1284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算总分 —— 总分由代码加总，模型拿不到这个权力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71215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给出无法在原文逐字匹配的引用 —— 直接作废重跑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29584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决定最终成绩 —— 低置信/不一致转人工，教师可改分留痕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87952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</a:rPr>
              <a:t>接触未脱敏的原始作业 —— 脱敏 + 证据窗口裁剪后才入库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92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6070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一句话概括分工：AI 负责「判断」，代码负责「算数与把关」，人负责「拍板」。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把这三件事分开，才有可能在评委问「你这个 87 分是怎么来的」时，指认出每一个字的出处。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04 · 技术方案与工程实现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技术方案：6 个文件、两条部署链路、一份隐私边界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3619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36192"/>
            <a:ext cx="5029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Streamlit 界面：评阅 / 详情对照 / 评分点 / 导出 / 批量测试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models.py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103120"/>
            <a:ext cx="5029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Pydantic 数据契约（ItemJudgement 里没有 total 字段）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70048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70048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prompts.py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70048"/>
            <a:ext cx="5029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RAG-E 四阶段 prompt 模板，由人维护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36976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36976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llm.py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236976"/>
            <a:ext cx="5029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模型调用 + JSON 宽容解析 + 防幻觉闸门（最值钱的文件）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03904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03904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parser.py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803904"/>
            <a:ext cx="5029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报告解析与章节切分：纯确定性代码，不调模型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70832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7083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pipeline.py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370832"/>
            <a:ext cx="50292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四阶编排；总分在这里由代码加总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536192"/>
            <a:ext cx="4041648" cy="215188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1536192"/>
            <a:ext cx="50292" cy="21518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1700784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部署：两条链路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029967"/>
            <a:ext cx="3584448" cy="149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Streamlit Cloud：可交互 Demo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GitHub Pages：主页 + 离线可看案例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（评委打不开 Demo 时的保底）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密钥走 st.secrets，不进仓库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429000"/>
            <a:ext cx="4041648" cy="202615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0" y="3429000"/>
            <a:ext cx="50292" cy="202615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3593592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隐私：原始作业不出本地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3922776"/>
            <a:ext cx="3584448" cy="1367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data/ 已写入 .gitignore，仓库里没有原始报告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公开案例双重处理：全文脱敏 + 正文裁剪为证据窗口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学号 / 姓名 / 班级 / 电话 / 邮箱已置零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285232"/>
            <a:ext cx="4041648" cy="924433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0" y="5285232"/>
            <a:ext cx="50292" cy="924433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5552" y="5449824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分界线清晰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5779008"/>
            <a:ext cx="3584448" cy="266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解析 / 切分 / 加总 / 校验：确定性代码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05 · 真实数据与自评测结果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自评测：敢自测，也敢把不好看的数字写出来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3566160" cy="14813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B45309"/>
                </a:solidFill>
                <a:latin typeface="微软雅黑"/>
                <a:ea typeface="微软雅黑"/>
              </a:rPr>
              <a:t>20.44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77440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微软雅黑"/>
                <a:ea typeface="微软雅黑"/>
              </a:rPr>
              <a:t>平均绝对误差 MAE（分）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70048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系统总分与人工总分之差的绝对值平均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572768"/>
            <a:ext cx="3566160" cy="14813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719072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B45309"/>
                </a:solidFill>
                <a:latin typeface="微软雅黑"/>
                <a:ea typeface="微软雅黑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77440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微软雅黑"/>
                <a:ea typeface="微软雅黑"/>
              </a:rPr>
              <a:t>误差 ≤5 分的报告占比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670048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9 份参评报告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72768"/>
            <a:ext cx="3566160" cy="14813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719072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B45309"/>
                </a:solidFill>
                <a:latin typeface="微软雅黑"/>
                <a:ea typeface="微软雅黑"/>
              </a:rPr>
              <a:t>84.9%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377440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微软雅黑"/>
                <a:ea typeface="微软雅黑"/>
              </a:rPr>
              <a:t>证据可溯源率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670048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每条引用回原文精确匹配，绝不放宽规则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127248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2724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B45309"/>
                </a:solidFill>
                <a:latin typeface="微软雅黑"/>
                <a:ea typeface="微软雅黑"/>
              </a:rPr>
              <a:t>缺陷修复后复测：MAE 7.56 分 / 误差≤5 占比 33.3% / 可溯源率 93.0%　——该修复发生在 gold 解封之后，是靠「系统性低估」这个信号查出来的，我们无法自证它没有沾到 gold 的光。 深度整改后同一份代码跑了两次完整评测：MAE 6.67~6.89，误差≤5 占比 33.3%~44.4%，可溯源率 96.9%~97.0% —— 波动就摆出来，不挑最好的一次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785615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85615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</a:rPr>
              <a:t>评测方法：9 份真实实验报告由非主程成员独立人工打分（gold set）——打分期间不看系统结果、不与主程讨论，封存到评测当天才解封。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这是纪律问题：让写 prompt 的人来定义「正确答案」，等于对着答案改答案。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45736"/>
            <a:ext cx="11064240" cy="1380363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4745736"/>
            <a:ext cx="50292" cy="1380363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103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诚实记录：第一次跑出来是 MAE 31.67 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39512"/>
            <a:ext cx="10607040" cy="7219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9 份里 8 份被系统性低估。查下去发现判定阶段只把报告 top-4 章节、每章截断 2500 字送进模型，模型实际只看到全文的 7%~11%——纯工程缺陷，与 prompt 无关。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修好后再完整重跑是 20.44 分：同一套代码两次跑分差这么多，是真实方差，我们不藏。三篇排查记录都在仓库 docs/ 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06 · 多模态 OCR（新增能力）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把最大的能力缺口补上：截图里的证据现在读得到了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11064240" cy="14813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0292" cy="148132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缺口：计算机实验报告最关键的证据是截图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66543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运行结果、报错信息、结果表格大量以截图形式存在。纯文本抽取只能拿到「运行结果示例」这行标题，正文是空的 —— 于是「结果与数据」这类评分点无据可依，一整类报告被系统性判低。此前我们把它写成「已知局限」，现在它被修掉了。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0400"/>
            <a:ext cx="5486400" cy="202615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3200400"/>
            <a:ext cx="50292" cy="202615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64992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怎么做的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5029200" cy="1367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逐页渲染成图片，交给 deepseek-flash（DeepSeek-V4.1-Flash，官方标注 Vision）转录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两种档位：正文没有代码/输出 → 全量转录；正文已有代码 → 只描述图片，避免重复计分、成本更低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结果按「文件哈希 + DPI + 模型 + 提示词版本」缓存，重复评阅不重复计费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200400"/>
            <a:ext cx="5394960" cy="210235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8" y="3200400"/>
            <a:ext cx="50292" cy="210235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64992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守住的四条纪律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94176"/>
            <a:ext cx="4937760" cy="1443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页码即坐标：每页转录带「第 N 页」标题，证据可以精确指到某一页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读不出来就写「无法辨认」——「看不出内容」不等于「没有内容」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逐页失败隔离：第 3 页读不出来不影响其余页，OCR 整体失败只降级、不阻断评阅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OCR 只影响「模型能看到什么」，不参与最终裁定，界面同时给原始版面对照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75504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一句话：这一页不是「我们打算做 OCR」，而是「OCR 已经跑通、有测试、可复现」。证据仍然必须通过代码的原文逐字校验 —— 读出来的内容不被特殊对待。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07 · 班级学情：教学管理闭环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从「一份报告几分」到「这个班卡在哪」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0292" cy="9601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定位修正：管理要回答的是三个决策问题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66543"/>
            <a:ext cx="10607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**这个班普遍卡在哪 · 下一节课该讲什么 · 谁需要我找一趟** —— 此前我们只交付了「一份报告几分」，方向契合上是缺了一半的。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97480"/>
            <a:ext cx="3566160" cy="14813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843784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B45309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02152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微软雅黑"/>
                <a:ea typeface="微软雅黑"/>
              </a:rPr>
              <a:t>演示队列参评报告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794760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9 份典型形态自造样本 + 3 份真实样本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697480"/>
            <a:ext cx="3566160" cy="14813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843784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B45309"/>
                </a:solidFill>
                <a:latin typeface="微软雅黑"/>
                <a:ea typeface="微软雅黑"/>
              </a:rPr>
              <a:t>66.7%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502152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微软雅黑"/>
                <a:ea typeface="微软雅黑"/>
              </a:rPr>
              <a:t>及格率（≥60 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794760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均分 73，区间 0~100 —— 判定能把不同水平分开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2697480"/>
            <a:ext cx="3566160" cy="14813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2843784"/>
            <a:ext cx="312724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B45309"/>
                </a:solidFill>
                <a:latin typeface="微软雅黑"/>
                <a:ea typeface="微软雅黑"/>
              </a:rPr>
              <a:t>7/12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502152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微软雅黑"/>
                <a:ea typeface="微软雅黑"/>
              </a:rPr>
              <a:t>最短板：「分析与总结」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794760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未拿满 7 份、均分 12.08/20，这就是该占用课堂时间的那一项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77639"/>
            <a:ext cx="5486400" cy="1737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3977639"/>
            <a:ext cx="50292" cy="17373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42231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看板给出的四类东西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71416"/>
            <a:ext cx="502920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共性短板：逐评分点统计拿满/部分/缺失，按薄弱率排序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建议动作：分「课堂教学 / 作业说明 / 评分标准 / 需人工处理」四类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可当范例讲的报告：教学建议要「用达标样本对照」，就先把样本列出来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需要关注的学生：按总分升序，带最弱项与待复核数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977639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36208" y="3977639"/>
            <a:ext cx="50292" cy="17373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42231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两条纪律（有测试守着）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71416"/>
            <a:ext cx="493776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**系统的问题不算到学生头上**：调用失败、召回模式的强制转人工 miss 一律不进「学生没做到」的统计 —— 否则老师会去讲一个其实没问题的知识点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**样本不足就说样本不足**：有效样本 &lt; 8 份时明确提示不要下「这个班普遍如何」的结论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分数来自模型、共性短板来自算术：前者有波动需人工终裁，后者是确定性统计，可以放心拿去做教学决策 —— 这个区分在界面上是分开写的。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08 · AI 工具使用与下一步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700" b="1">
                <a:solidFill>
                  <a:srgbClr val="1F2937"/>
                </a:solidFill>
                <a:latin typeface="微软雅黑"/>
                <a:ea typeface="微软雅黑"/>
              </a:rPr>
              <a:t>AI 协作过程、团队与展望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960120" cy="5029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AutoGrader · RAG-E 四阶判定链 · 每条判定都可溯源到报告原文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32764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000" b="0">
                <a:solidFill>
                  <a:srgbClr val="6B7280"/>
                </a:solidFill>
                <a:latin typeface="微软雅黑"/>
                <a:ea typeface="微软雅黑"/>
              </a:rP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0292" cy="21031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AI 帮我们抓到的两个真实缺陷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66543"/>
            <a:ext cx="502920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① 上下文丢失：模型只看到报告 7%~11% 内容（MAE 31.67 → 20.44）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② 反馈生成失败：异常被 except 吞掉，查不到原因；最后靠另一项功能测试才炸出真凶——输出的 JSON 含未转义引号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两篇排查记录都在仓库 docs/ 下，是当时写下的，不是事后美化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72768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572768"/>
            <a:ext cx="50292" cy="21031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AI 在工程里的位置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66543"/>
            <a:ext cx="493776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代码骨架、prompt 初稿、界面实现由 AI 协作产出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判定规则、评分点定义、gold set 打分由人完成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</a:rPr>
              <a:t>「不许吞异常」「不许放宽匹配规则」是我们给自己立的规矩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486400" cy="179501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822191"/>
            <a:ext cx="50292" cy="179501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86783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团队与分工（2 人，均为计算机科学与技术专业）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15968"/>
            <a:ext cx="5029200" cy="1136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黄宇科（主程）：代码 / 部署 / 版本管理 / 自评测工具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张镒川（产品与材料）：报告脱敏 / 评分点整理 / 独立人工打分 / 试用 / PPT / 视频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1F2937"/>
                </a:solidFill>
                <a:latin typeface="微软雅黑"/>
                <a:ea typeface="微软雅黑"/>
              </a:rPr>
              <a:t>深圳大学计算机与软件学院 · 计算机科学与技术 · 2025 级 05 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822191"/>
            <a:ext cx="5394960" cy="164642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3822191"/>
            <a:ext cx="50292" cy="16464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86783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F2937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15968"/>
            <a:ext cx="4937760" cy="988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把评分模板扩到更多课程与学科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增加班级维度的批量视图与学情统计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</a:rPr>
              <a:t>把多模态 OCR 扩到 DOCX 内嵌图片，并做一次读图准确率的人工抽样评测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4132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本页每一句技术承诺，都能在仓库代码或在线演示中指认；指认不出的我们已经删掉了。所有数字均可由 tools/batch_run.py + tools/benchmark.py 复现。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B45309"/>
                </a:solidFill>
                <a:latin typeface="微软雅黑"/>
                <a:ea typeface="微软雅黑"/>
              </a:rPr>
              <a:t>提交前提示：MAE / 误差占比 / 可溯源率以最新一次 benchmark 为准，若与本次不一致请以新数字更新本页（本页与 README、作品主页读的是同一组值，三处必须一致 —— 评委交叉核对时对不上就是硬伤）。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